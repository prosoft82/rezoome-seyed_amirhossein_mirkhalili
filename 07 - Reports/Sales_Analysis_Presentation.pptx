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a-IR" sz="1600"/>
              <a:t>درآمد سالانه (میلیون دلار)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درآمد ($M)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2015</c:v>
                </c:pt>
                <c:pt idx="1">
                  <c:v>2016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9.9499999999999993</c:v>
                </c:pt>
                <c:pt idx="1">
                  <c:v>12.4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6F9-4C64-9397-954511B08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a-IR" sz="1600"/>
              <a:t>سهم هر دسته‌بندی از درآمد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درآمد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دوچرخه</c:v>
                </c:pt>
                <c:pt idx="1">
                  <c:v>لوازم جانبی</c:v>
                </c:pt>
                <c:pt idx="2">
                  <c:v>پوشاک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11.49</c:v>
                </c:pt>
                <c:pt idx="1">
                  <c:v>7.42</c:v>
                </c:pt>
                <c:pt idx="2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70-436C-BC79-10A23C23C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a-IR" sz="1600"/>
              <a:t>درآمد بر اساس کشور (میلیون دلار)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درآمد ($M)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آمریکا</c:v>
                </c:pt>
                <c:pt idx="1">
                  <c:v>انگلیس</c:v>
                </c:pt>
                <c:pt idx="2">
                  <c:v>آلمان</c:v>
                </c:pt>
                <c:pt idx="3">
                  <c:v>فرانسه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10.38</c:v>
                </c:pt>
                <c:pt idx="1">
                  <c:v>4.28</c:v>
                </c:pt>
                <c:pt idx="2">
                  <c:v>4.24</c:v>
                </c:pt>
                <c:pt idx="3">
                  <c:v>3.45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5FC-4976-8871-244DFBAC0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a-IR" sz="1600"/>
              <a:t>مقایسه درآمد و سود بر اساس جنسیت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درآمد ($M)</c:v>
                </c:pt>
              </c:strCache>
            </c:strRef>
          </c:tx>
          <c:spPr>
            <a:solidFill>
              <a:srgbClr val="1F3A5F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مردان</c:v>
                </c:pt>
                <c:pt idx="1">
                  <c:v>زنان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11.41</c:v>
                </c:pt>
                <c:pt idx="1">
                  <c:v>10.93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A50-4448-B41D-61FC2F2E33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سود ($M)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مردان</c:v>
                </c:pt>
                <c:pt idx="1">
                  <c:v>زنان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1.1599999999999999</c:v>
                </c:pt>
                <c:pt idx="1">
                  <c:v>1.1000000000000001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A50-4448-B41D-61FC2F2E3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a-IR" sz="1600"/>
              <a:t>درآمد ماهانه (هزار دلار)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درآمد ($K)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ژانویه</c:v>
                </c:pt>
                <c:pt idx="1">
                  <c:v>فوریه</c:v>
                </c:pt>
                <c:pt idx="2">
                  <c:v>مارس</c:v>
                </c:pt>
                <c:pt idx="3">
                  <c:v>آوریل</c:v>
                </c:pt>
                <c:pt idx="4">
                  <c:v>مه</c:v>
                </c:pt>
                <c:pt idx="5">
                  <c:v>ژوئن</c:v>
                </c:pt>
                <c:pt idx="6">
                  <c:v>جولای</c:v>
                </c:pt>
                <c:pt idx="7">
                  <c:v>آگوست</c:v>
                </c:pt>
                <c:pt idx="8">
                  <c:v>سپتامبر</c:v>
                </c:pt>
                <c:pt idx="9">
                  <c:v>اکتبر</c:v>
                </c:pt>
                <c:pt idx="10">
                  <c:v>نوامبر</c:v>
                </c:pt>
                <c:pt idx="11">
                  <c:v>دسامبر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1650</c:v>
                </c:pt>
                <c:pt idx="1">
                  <c:v>1994</c:v>
                </c:pt>
                <c:pt idx="2">
                  <c:v>2135</c:v>
                </c:pt>
                <c:pt idx="3">
                  <c:v>2200</c:v>
                </c:pt>
                <c:pt idx="4">
                  <c:v>2626</c:v>
                </c:pt>
                <c:pt idx="5">
                  <c:v>2682</c:v>
                </c:pt>
                <c:pt idx="6">
                  <c:v>1900</c:v>
                </c:pt>
                <c:pt idx="7">
                  <c:v>1750</c:v>
                </c:pt>
                <c:pt idx="8">
                  <c:v>1500</c:v>
                </c:pt>
                <c:pt idx="9">
                  <c:v>1200</c:v>
                </c:pt>
                <c:pt idx="10">
                  <c:v>900</c:v>
                </c:pt>
                <c:pt idx="11">
                  <c:v>2116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31-4065-A254-C3CCF6278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fa-IR" sz="1600"/>
              <a:t>وضعیت سودآوری سفارشات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تعداد</c:v>
                </c:pt>
              </c:strCache>
            </c:strRef>
          </c:tx>
          <c:dLbls>
            <c:dLbl>
              <c:idx val="0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E7-484D-B8F9-CC95A781334F}"/>
                </c:ext>
              </c:extLst>
            </c:dLbl>
            <c:dLbl>
              <c:idx val="1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2E7-484D-B8F9-CC95A781334F}"/>
                </c:ext>
              </c:extLst>
            </c:dLbl>
            <c:dLbl>
              <c:idx val="2"/>
              <c:layout>
                <c:manualLayout>
                  <c:x val="-0.2600572655690766"/>
                  <c:y val="3.3108844349001833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E7-484D-B8F9-CC95A78133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سودآور (84.9%)</c:v>
                </c:pt>
                <c:pt idx="1">
                  <c:v>زیان‌ده (13.9%)</c:v>
                </c:pt>
                <c:pt idx="2">
                  <c:v>سربه‌سر (1.2%)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29592</c:v>
                </c:pt>
                <c:pt idx="1">
                  <c:v>4854</c:v>
                </c:pt>
                <c:pt idx="2">
                  <c:v>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E7-484D-B8F9-CC95A78133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0.56272</cdr:x>
      <cdr:y>0.33026</cdr:y>
    </cdr:from>
    <cdr:to>
      <cdr:x>0.8389</cdr:x>
      <cdr:y>0.47756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D53C96C-96AA-389B-B9A3-3A71C7AA55E7}"/>
            </a:ext>
          </a:extLst>
        </cdr:cNvPr>
        <cdr:cNvSpPr txBox="1"/>
      </cdr:nvSpPr>
      <cdr:spPr>
        <a:xfrm xmlns:a="http://schemas.openxmlformats.org/drawingml/2006/main">
          <a:off x="2830010" y="1660967"/>
          <a:ext cx="1388962" cy="74078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0.56732</cdr:x>
      <cdr:y>0.34638</cdr:y>
    </cdr:from>
    <cdr:to>
      <cdr:x>0.82278</cdr:x>
      <cdr:y>0.45455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A5A5A785-2350-6C65-2BAD-C5BF5EAF624B}"/>
            </a:ext>
          </a:extLst>
        </cdr:cNvPr>
        <cdr:cNvSpPr txBox="1"/>
      </cdr:nvSpPr>
      <cdr:spPr>
        <a:xfrm xmlns:a="http://schemas.openxmlformats.org/drawingml/2006/main">
          <a:off x="2853159" y="1741990"/>
          <a:ext cx="1284790" cy="5440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0.25662</cdr:x>
      <cdr:y>0.16686</cdr:y>
    </cdr:from>
    <cdr:to>
      <cdr:x>0.39931</cdr:x>
      <cdr:y>0.30265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6CE531E2-5267-B86D-9204-D1FE137E55E4}"/>
            </a:ext>
          </a:extLst>
        </cdr:cNvPr>
        <cdr:cNvSpPr txBox="1"/>
      </cdr:nvSpPr>
      <cdr:spPr>
        <a:xfrm xmlns:a="http://schemas.openxmlformats.org/drawingml/2006/main">
          <a:off x="1290577" y="839165"/>
          <a:ext cx="717631" cy="6829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3B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تحلیل عملکرد فروش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8D3E6"/>
                </a:solidFill>
              </a:rPr>
              <a:t>گزارش جامع عملکرد فروش و سودآوری | 2015-2016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91840"/>
            <a:ext cx="3962095" cy="45720"/>
          </a:xfrm>
          <a:prstGeom prst="rect">
            <a:avLst/>
          </a:prstGeom>
          <a:solidFill>
            <a:srgbClr val="F3B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F3B23E"/>
                </a:solidFill>
              </a:rPr>
              <a:t>۳۴,۸۶۷ سفارش  |  ۴ کشور  |  ۳ دسته‌بندی محصول  |  $۲۲.۳M درآمد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digestive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C8C4C"/>
                </a:solidFill>
              </a:rPr>
              <a:t>$22.3M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مجموع درآمد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رشد ۲۵٪ نسبت به ۲۰۱۵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6517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9488"/>
                </a:solidFill>
              </a:rPr>
              <a:t>$2.26M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مجموع سود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حاشیه سود ۱۰.۱٪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517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B23E"/>
                </a:solidFill>
              </a:rPr>
              <a:t>84.9٪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سفارشات سودآور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از کل سفارشات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6517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$641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میانگین ارزش سفارش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به ازای هر سفارش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پیام کلیدی</a:t>
            </a:r>
          </a:p>
          <a:p>
            <a:pPr>
              <a:spcBef>
                <a:spcPts val="600"/>
              </a:spcBef>
            </a:pPr>
            <a:r>
              <a:rPr sz="1400"/>
              <a:t>• درآمد کل ۲۲.۳ میلیون دلار با حاشیه سود ۱۰.۱٪</a:t>
            </a:r>
          </a:p>
          <a:p>
            <a:pPr>
              <a:spcBef>
                <a:spcPts val="600"/>
              </a:spcBef>
            </a:pPr>
            <a:r>
              <a:rPr sz="1400"/>
              <a:t>• رشد درآمد ۲۵٪ از ۲۰۱۵ به ۲۰۱۶</a:t>
            </a:r>
          </a:p>
          <a:p>
            <a:pPr>
              <a:spcBef>
                <a:spcPts val="600"/>
              </a:spcBef>
            </a:pPr>
            <a:r>
              <a:rPr sz="1400"/>
              <a:t>• ۸۵٪ سفارشات سودآور هستند</a:t>
            </a:r>
          </a:p>
          <a:p>
            <a:pPr>
              <a:spcBef>
                <a:spcPts val="600"/>
              </a:spcBef>
            </a:pPr>
            <a:r>
              <a:rPr sz="1400"/>
              <a:t>• دوچرخه پرفروش‌ترین دسته‌بندی از نظر درآمد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رشد درآمد: ۲۵٪ افزایش در یک سال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تحلیل رشد</a:t>
            </a:r>
          </a:p>
          <a:p>
            <a:pPr>
              <a:spcBef>
                <a:spcPts val="1000"/>
              </a:spcBef>
            </a:pPr>
            <a:r>
              <a:rPr sz="1600"/>
              <a:t>۲۰۱۵: $9.95M درآمد</a:t>
            </a:r>
          </a:p>
          <a:p>
            <a:pPr>
              <a:spcBef>
                <a:spcPts val="1000"/>
              </a:spcBef>
            </a:pPr>
            <a:r>
              <a:rPr sz="1600"/>
              <a:t>۲۰۱۶: $12.40M درآمد</a:t>
            </a:r>
          </a:p>
          <a:p>
            <a:pPr>
              <a:spcBef>
                <a:spcPts val="1000"/>
              </a:spcBef>
            </a:pPr>
            <a:r>
              <a:rPr sz="1600"/>
              <a:t>رشد: +24.7%</a:t>
            </a:r>
          </a:p>
          <a:p>
            <a:br/>
            <a:br/>
            <a:r>
              <a:rPr sz="1800" b="1">
                <a:solidFill>
                  <a:srgbClr val="1F3A5F"/>
                </a:solidFill>
              </a:rPr>
              <a:t>نکات مهم:</a:t>
            </a:r>
          </a:p>
          <a:p>
            <a:pPr>
              <a:spcBef>
                <a:spcPts val="800"/>
              </a:spcBef>
            </a:pPr>
            <a:r>
              <a:rPr sz="1400"/>
              <a:t>• تعداد سفارشات ۳۲٪ رشد داشته</a:t>
            </a:r>
          </a:p>
          <a:p>
            <a:pPr>
              <a:spcBef>
                <a:spcPts val="800"/>
              </a:spcBef>
            </a:pPr>
            <a:r>
              <a:rPr sz="1400"/>
              <a:t>• سود خالص ۵۸۳٪ رشد داشته!</a:t>
            </a:r>
          </a:p>
          <a:p>
            <a:pPr>
              <a:spcBef>
                <a:spcPts val="800"/>
              </a:spcBef>
            </a:pPr>
            <a:r>
              <a:rPr sz="1400"/>
              <a:t>• حاشیه سود از ۲.۹٪ به ۱۵.۹٪ رسیده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دسته‌بندی محصولات: دوچرخه پرفروش‌ترین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66559"/>
              </p:ext>
            </p:extLst>
          </p:nvPr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645920"/>
          <a:ext cx="576072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دسته‌بندی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درآمد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سود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حاشیه سود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تعداد سفارش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00"/>
                        <a:t>دوچرخه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$11.49M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$338K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7,093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00"/>
                        <a:t>لوازم جانبی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$7.42M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$1.38M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22,534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100"/>
                        <a:t>پوشاک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$3.44M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$545K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5,239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3891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63946"/>
                </a:solidFill>
              </a:rPr>
              <a:t>تحلیل مهم</a:t>
            </a:r>
          </a:p>
          <a:p>
            <a:pPr>
              <a:spcBef>
                <a:spcPts val="600"/>
              </a:spcBef>
            </a:pPr>
            <a:r>
              <a:rPr sz="1200"/>
              <a:t>• دوچرخه بیشترین درآمد را دارد اما کمترین حاشیه سود (2.9%)</a:t>
            </a:r>
          </a:p>
          <a:p>
            <a:pPr>
              <a:spcBef>
                <a:spcPts val="600"/>
              </a:spcBef>
            </a:pPr>
            <a:r>
              <a:rPr sz="1200"/>
              <a:t>• لوازم جانبی بیشترین سود خالص را دارد</a:t>
            </a:r>
          </a:p>
          <a:p>
            <a:pPr>
              <a:spcBef>
                <a:spcPts val="600"/>
              </a:spcBef>
            </a:pPr>
            <a:r>
              <a:rPr sz="1200"/>
              <a:t>• لوازم جانبی بیشترین تعداد سفارش را دارد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تحلیل جغرافیایی: آمریکا پیشرو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کشور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درآمد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میانگین سفارش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تعداد سفارش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سود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آمریکا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$10.38M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$701K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انگلیس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$329K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آلمان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$959K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فرانسه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$3.45M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$273K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3B23E"/>
                </a:solidFill>
              </a:rPr>
              <a:t>نکته: آلمان بالاترین میانگین ارزش سفارش ($816) را دارد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تحلیل جنسیتی: تقریباً برابر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71600"/>
            <a:ext cx="5029200" cy="3498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F3A5F"/>
                </a:solidFill>
              </a:rPr>
              <a:t>مقایسه</a:t>
            </a:r>
            <a:r>
              <a:rPr sz="2200" b="1" dirty="0">
                <a:solidFill>
                  <a:srgbClr val="1F3A5F"/>
                </a:solidFill>
              </a:rPr>
              <a:t> </a:t>
            </a:r>
            <a:r>
              <a:rPr sz="2200" b="1" dirty="0" err="1">
                <a:solidFill>
                  <a:srgbClr val="1F3A5F"/>
                </a:solidFill>
              </a:rPr>
              <a:t>جنسیتی</a:t>
            </a:r>
            <a:endParaRPr sz="2200" b="1" dirty="0">
              <a:solidFill>
                <a:srgbClr val="1F3A5F"/>
              </a:solidFill>
            </a:endParaRPr>
          </a:p>
          <a:p>
            <a:pPr>
              <a:spcBef>
                <a:spcPts val="1200"/>
              </a:spcBef>
            </a:pPr>
            <a:r>
              <a:rPr sz="1600" dirty="0" err="1"/>
              <a:t>مردان</a:t>
            </a:r>
            <a:r>
              <a:rPr sz="1600" dirty="0"/>
              <a:t>: </a:t>
            </a:r>
            <a:r>
              <a:rPr lang="fa-IR" sz="1600" dirty="0"/>
              <a:t>              </a:t>
            </a:r>
            <a:r>
              <a:rPr sz="1600" dirty="0"/>
              <a:t>$11.41M </a:t>
            </a:r>
            <a:r>
              <a:rPr sz="1600" dirty="0" err="1"/>
              <a:t>درآمد</a:t>
            </a:r>
            <a:r>
              <a:rPr sz="1600" dirty="0"/>
              <a:t> |</a:t>
            </a:r>
            <a:r>
              <a:rPr lang="fa-IR" sz="1600" dirty="0"/>
              <a:t>  </a:t>
            </a:r>
            <a:r>
              <a:rPr sz="1600" dirty="0"/>
              <a:t> </a:t>
            </a:r>
            <a:r>
              <a:rPr lang="fa-IR" sz="1600" dirty="0"/>
              <a:t>      </a:t>
            </a:r>
            <a:r>
              <a:rPr sz="1600" dirty="0"/>
              <a:t>$1.16M </a:t>
            </a:r>
            <a:r>
              <a:rPr sz="1600" dirty="0" err="1"/>
              <a:t>سود</a:t>
            </a:r>
            <a:endParaRPr sz="1600" dirty="0"/>
          </a:p>
          <a:p>
            <a:pPr>
              <a:spcBef>
                <a:spcPts val="1200"/>
              </a:spcBef>
            </a:pPr>
            <a:r>
              <a:rPr sz="1600" dirty="0" err="1"/>
              <a:t>زنان</a:t>
            </a:r>
            <a:r>
              <a:rPr sz="1600" dirty="0"/>
              <a:t>: </a:t>
            </a:r>
            <a:r>
              <a:rPr lang="fa-IR" sz="1600" dirty="0"/>
              <a:t>                </a:t>
            </a:r>
            <a:r>
              <a:rPr sz="1600" dirty="0"/>
              <a:t>$10.</a:t>
            </a:r>
            <a:r>
              <a:rPr lang="en-US" sz="1600" dirty="0"/>
              <a:t>93</a:t>
            </a:r>
            <a:r>
              <a:rPr sz="1600" dirty="0"/>
              <a:t>M </a:t>
            </a:r>
            <a:r>
              <a:rPr sz="1600" dirty="0" err="1"/>
              <a:t>درآمد</a:t>
            </a:r>
            <a:r>
              <a:rPr sz="1600" dirty="0"/>
              <a:t> </a:t>
            </a:r>
            <a:r>
              <a:rPr lang="en-US" sz="1600" dirty="0"/>
              <a:t>|          </a:t>
            </a:r>
            <a:r>
              <a:rPr sz="1600" dirty="0"/>
              <a:t>$1.10M </a:t>
            </a:r>
            <a:r>
              <a:rPr sz="1600" dirty="0" err="1"/>
              <a:t>سود</a:t>
            </a:r>
            <a:endParaRPr sz="1600" dirty="0"/>
          </a:p>
          <a:p>
            <a:pPr>
              <a:spcBef>
                <a:spcPts val="1200"/>
              </a:spcBef>
            </a:pPr>
            <a:r>
              <a:rPr sz="1600" dirty="0" err="1"/>
              <a:t>اختلاف</a:t>
            </a:r>
            <a:r>
              <a:rPr sz="1600" dirty="0"/>
              <a:t> </a:t>
            </a:r>
            <a:r>
              <a:rPr sz="1600" dirty="0" err="1"/>
              <a:t>درآمد</a:t>
            </a:r>
            <a:r>
              <a:rPr sz="1600" dirty="0"/>
              <a:t>: 4.4٪</a:t>
            </a:r>
          </a:p>
          <a:p>
            <a:pPr>
              <a:spcBef>
                <a:spcPts val="1200"/>
              </a:spcBef>
            </a:pPr>
            <a:r>
              <a:rPr sz="1600" dirty="0" err="1"/>
              <a:t>اختلاف</a:t>
            </a:r>
            <a:r>
              <a:rPr sz="1600" dirty="0"/>
              <a:t> </a:t>
            </a:r>
            <a:r>
              <a:rPr sz="1600" dirty="0" err="1"/>
              <a:t>سود</a:t>
            </a:r>
            <a:r>
              <a:rPr sz="1600" dirty="0"/>
              <a:t>: 5.5٪</a:t>
            </a:r>
          </a:p>
          <a:p>
            <a:br>
              <a:rPr dirty="0"/>
            </a:br>
            <a:br>
              <a:rPr dirty="0"/>
            </a:br>
            <a:r>
              <a:rPr sz="1800" b="1" dirty="0" err="1">
                <a:solidFill>
                  <a:srgbClr val="0D9488"/>
                </a:solidFill>
              </a:rPr>
              <a:t>نتیجه‌گیری</a:t>
            </a:r>
            <a:r>
              <a:rPr sz="1800" b="1" dirty="0">
                <a:solidFill>
                  <a:srgbClr val="0D9488"/>
                </a:solidFill>
              </a:rPr>
              <a:t>:</a:t>
            </a:r>
          </a:p>
          <a:p>
            <a:pPr>
              <a:spcBef>
                <a:spcPts val="800"/>
              </a:spcBef>
            </a:pPr>
            <a:r>
              <a:rPr sz="1400" dirty="0" err="1"/>
              <a:t>تفاوت</a:t>
            </a:r>
            <a:r>
              <a:rPr sz="1400" dirty="0"/>
              <a:t> </a:t>
            </a:r>
            <a:r>
              <a:rPr sz="1400" dirty="0" err="1"/>
              <a:t>معناداری</a:t>
            </a:r>
            <a:r>
              <a:rPr sz="1400" dirty="0"/>
              <a:t> </a:t>
            </a:r>
            <a:r>
              <a:rPr sz="1400" dirty="0" err="1"/>
              <a:t>بین</a:t>
            </a:r>
            <a:r>
              <a:rPr sz="1400" dirty="0"/>
              <a:t> </a:t>
            </a:r>
            <a:r>
              <a:rPr sz="1400" dirty="0" err="1"/>
              <a:t>رفتار</a:t>
            </a:r>
            <a:r>
              <a:rPr sz="1400" dirty="0"/>
              <a:t> </a:t>
            </a:r>
            <a:r>
              <a:rPr sz="1400" dirty="0" err="1"/>
              <a:t>خرید</a:t>
            </a:r>
            <a:r>
              <a:rPr sz="1400" dirty="0"/>
              <a:t> </a:t>
            </a:r>
            <a:r>
              <a:rPr sz="1400" dirty="0" err="1"/>
              <a:t>زنان</a:t>
            </a:r>
            <a:r>
              <a:rPr sz="1400" dirty="0"/>
              <a:t> و </a:t>
            </a:r>
            <a:r>
              <a:rPr sz="1400" dirty="0" err="1"/>
              <a:t>مردان</a:t>
            </a:r>
            <a:r>
              <a:rPr sz="1400" dirty="0"/>
              <a:t> </a:t>
            </a:r>
            <a:r>
              <a:rPr sz="1400" dirty="0" err="1"/>
              <a:t>وجود</a:t>
            </a:r>
            <a:r>
              <a:rPr sz="1400" dirty="0"/>
              <a:t> </a:t>
            </a:r>
            <a:r>
              <a:rPr sz="1400" dirty="0" err="1"/>
              <a:t>ندارد</a:t>
            </a:r>
            <a:r>
              <a:rPr lang="fa-IR" sz="1400"/>
              <a:t>.</a:t>
            </a:r>
          </a:p>
          <a:p>
            <a:pPr>
              <a:spcBef>
                <a:spcPts val="800"/>
              </a:spcBef>
            </a:pPr>
            <a:r>
              <a:rPr lang="fa-IR" sz="1400" dirty="0"/>
              <a:t>هر دو گروه تقریباً به یک اندازه خرید می‌کنند.</a:t>
            </a: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الگوی فصلی: بهار و تابستان پرفروش‌ترین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۱۰ محصول پرفروش از نظر درآمد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رتبه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محصول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درآمد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سود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تعداد فروش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Mountain Bikes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$5.18M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5,499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Road Bikes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$3.92M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6,119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Tires and Tubes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$2.87M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$512K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22,213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Helmets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$2.74M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$518K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8,387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Touring Bikes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$2.39M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2,673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Jerseys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$1.83M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$301K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4,033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Bottles and Cages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$709K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$130K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10,558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$689K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$87K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Hydration Packs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$403K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۱۰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$369K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تحلیل سودآوری: ۸۵٪ سفارشات سودآور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23925"/>
              </p:ext>
            </p:extLst>
          </p:nvPr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جزئیات سودآوری</a:t>
            </a:r>
          </a:p>
          <a:p>
            <a:pPr>
              <a:spcBef>
                <a:spcPts val="800"/>
              </a:spcBef>
            </a:pPr>
            <a:r>
              <a:rPr sz="1600"/>
              <a:t>تعداد سفارشات سودآور: 29,592 (84.9%)</a:t>
            </a:r>
          </a:p>
          <a:p>
            <a:pPr>
              <a:spcBef>
                <a:spcPts val="800"/>
              </a:spcBef>
            </a:pPr>
            <a:r>
              <a:rPr sz="1600"/>
              <a:t>تعداد سفارشات زیان‌ده: 4,854 (13.9%)</a:t>
            </a:r>
          </a:p>
          <a:p>
            <a:pPr>
              <a:spcBef>
                <a:spcPts val="800"/>
              </a:spcBef>
            </a:pPr>
            <a:r>
              <a:rPr sz="1600"/>
              <a:t>تعداد سفارشات سربه‌سر: 420 (1.2%)</a:t>
            </a:r>
          </a:p>
          <a:p>
            <a:pPr>
              <a:spcBef>
                <a:spcPts val="800"/>
              </a:spcBef>
            </a:pPr>
            <a:r>
              <a:rPr sz="1600"/>
              <a:t> </a:t>
            </a:r>
          </a:p>
          <a:p>
            <a:pPr>
              <a:spcBef>
                <a:spcPts val="800"/>
              </a:spcBef>
            </a:pPr>
            <a:r>
              <a:rPr sz="1600"/>
              <a:t>مجموع سود خالص: $2.26M</a:t>
            </a:r>
          </a:p>
          <a:p>
            <a:pPr>
              <a:spcBef>
                <a:spcPts val="800"/>
              </a:spcBef>
            </a:pPr>
            <a:r>
              <a:rPr sz="1600"/>
              <a:t>حاشیه سود کل: 10.1%</a:t>
            </a:r>
          </a:p>
          <a:p>
            <a:br/>
            <a:br/>
            <a:r>
              <a:rPr sz="1800" b="1">
                <a:solidFill>
                  <a:srgbClr val="2C8C4C"/>
                </a:solidFill>
              </a:rPr>
              <a:t>تحلیل:</a:t>
            </a:r>
          </a:p>
          <a:p>
            <a:pPr>
              <a:spcBef>
                <a:spcPts val="800"/>
              </a:spcBef>
            </a:pPr>
            <a:r>
              <a:rPr sz="1400"/>
              <a:t>بیش از ۸۵٪ سفارشات سودآور هستند که نشان‌دهنده عملکرد مالی خوب است. با این حال، بهبود حاشیه سود دوچرخه‌ها می‌تواند سود کلی را افزایش دهد.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836E85F-722D-6A04-6CFF-AC5031286037}"/>
              </a:ext>
            </a:extLst>
          </p:cNvPr>
          <p:cNvCxnSpPr/>
          <p:nvPr/>
        </p:nvCxnSpPr>
        <p:spPr>
          <a:xfrm rot="10800000">
            <a:off x="1967696" y="1886674"/>
            <a:ext cx="914400" cy="173621"/>
          </a:xfrm>
          <a:prstGeom prst="bentConnector3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تحلیل سنی مشتریان: میانگین ۳۶ سال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توزیع سنی مشتریان</a:t>
            </a:r>
          </a:p>
          <a:p>
            <a:pPr>
              <a:spcBef>
                <a:spcPts val="1200"/>
              </a:spcBef>
            </a:pPr>
            <a:r>
              <a:rPr sz="1800"/>
              <a:t>میانگین سن: 36.4 سال</a:t>
            </a:r>
          </a:p>
          <a:p>
            <a:pPr>
              <a:spcBef>
                <a:spcPts val="1200"/>
              </a:spcBef>
            </a:pPr>
            <a:r>
              <a:rPr sz="1800"/>
              <a:t>سنین کمتر از 25٪: 28 سال (پایین‌تر)</a:t>
            </a:r>
          </a:p>
          <a:p>
            <a:pPr>
              <a:spcBef>
                <a:spcPts val="1200"/>
              </a:spcBef>
            </a:pPr>
            <a:r>
              <a:rPr sz="1800"/>
              <a:t>میانه سن: 35 سال</a:t>
            </a:r>
          </a:p>
          <a:p>
            <a:pPr>
              <a:spcBef>
                <a:spcPts val="1200"/>
              </a:spcBef>
            </a:pPr>
            <a:r>
              <a:rPr sz="1800"/>
              <a:t>سنین بیشتر از 75٪: 44 سال (بالاتر)</a:t>
            </a:r>
          </a:p>
          <a:p>
            <a:pPr>
              <a:spcBef>
                <a:spcPts val="1200"/>
              </a:spcBef>
            </a:pPr>
            <a:r>
              <a:rPr sz="1800"/>
              <a:t>حداقل سن: 17 سال</a:t>
            </a:r>
          </a:p>
          <a:p>
            <a:pPr>
              <a:spcBef>
                <a:spcPts val="1200"/>
              </a:spcBef>
            </a:pPr>
            <a:r>
              <a:rPr sz="1800"/>
              <a:t>حداکثر سن: 87 سال</a:t>
            </a:r>
          </a:p>
          <a:p>
            <a:br/>
            <a:br/>
            <a:r>
              <a:rPr sz="2000" b="1">
                <a:solidFill>
                  <a:srgbClr val="0D9488"/>
                </a:solidFill>
              </a:rPr>
              <a:t>تحلیل:</a:t>
            </a:r>
          </a:p>
          <a:p>
            <a:pPr>
              <a:spcBef>
                <a:spcPts val="1000"/>
              </a:spcBef>
            </a:pPr>
            <a:r>
              <a:rPr sz="1600"/>
              <a:t>بیشتر مشتریان در بازه سنی 28-44 سال قرار دارند. این گروه سنی معمولاً درآمد بالاتری دارند و تمایل بیشتری به خرید محصولات ورزشی با کیفیت دارند.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3B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نتیجه‌گیری و پیشنهادات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280160"/>
            <a:ext cx="3962095" cy="45720"/>
          </a:xfrm>
          <a:prstGeom prst="rect">
            <a:avLst/>
          </a:prstGeom>
          <a:solidFill>
            <a:srgbClr val="F3B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۱. رشد قابل توجه درآمد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درآمد ۲۵٪ و سود ۵۸۳٪ رشد داشته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۲. بهبود حاشیه سود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از ۲.۹٪ به ۱۵.۹٪ افزایش یافته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۳. بازار آمریکا پیشرو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بیشترین درآمد و تعداد سفارش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۴. لوازم جانبی سودآورترین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1208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بیشترین حاشیه سود (۱۸.۶٪)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پیشنهادات استراتژیک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1097280"/>
          </a:xfrm>
          <a:prstGeom prst="roundRect">
            <a:avLst/>
          </a:prstGeom>
          <a:solidFill>
            <a:srgbClr val="F7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افزایش فروش لوازم جانبی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لوازم جانبی بیشترین حاشیه سود را دارند. تمرکز بر بازاریابی این محصولات می‌تواند سود را افزایش دهد.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77295" cy="1097280"/>
          </a:xfrm>
          <a:prstGeom prst="roundRect">
            <a:avLst/>
          </a:prstGeom>
          <a:solidFill>
            <a:srgbClr val="F7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بهبود حاشیه سود دوچرخه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دوچرخه بیشترین درآمد اما کمترین حاشیه سود را دارد. بررسی هزینه‌ها و قیمت‌گذاری توصیه می‌شود.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77295" cy="1097280"/>
          </a:xfrm>
          <a:prstGeom prst="roundRect">
            <a:avLst/>
          </a:prstGeom>
          <a:solidFill>
            <a:srgbClr val="F7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توسعه بازار آلمان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آلمان بالاترین میانگین ارزش سفارش ($816) را دارد. سرمایه‌گذاری در این بازار سودآور است.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12079"/>
            <a:ext cx="11277295" cy="1097280"/>
          </a:xfrm>
          <a:prstGeom prst="roundRect">
            <a:avLst/>
          </a:prstGeom>
          <a:solidFill>
            <a:srgbClr val="F7F5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19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تقویت فروش در بهار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79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4444"/>
                </a:solidFill>
              </a:rPr>
              <a:t>بهار و تابستان پرفروش‌ترین فصل‌ها هستند. کمپین‌های بازاریابی فصلی مؤثر خواهد بود.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771</Words>
  <Application>Microsoft Office PowerPoint</Application>
  <PresentationFormat>Widescreen</PresentationFormat>
  <Paragraphs>195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seyed amirhossein mirkhalili</cp:lastModifiedBy>
  <cp:revision>4</cp:revision>
  <dcterms:created xsi:type="dcterms:W3CDTF">2013-01-27T09:14:16Z</dcterms:created>
  <dcterms:modified xsi:type="dcterms:W3CDTF">2026-07-09T13:14:23Z</dcterms:modified>
  <cp:category/>
</cp:coreProperties>
</file>
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0390" y="1828800"/>
            <a:ext cx="109069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3200" b="1" dirty="0">
                <a:solidFill>
                  <a:srgbClr val="FFFFFF"/>
                </a:solidFill>
              </a:rPr>
              <a:t>تاثیر شاخص های پنج گانه ( جنیست ، سن ، مکان ، وضعیت تاهل ، تحصیلات) بر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محرومیت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از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بازار</a:t>
            </a:r>
            <a:r>
              <a:rPr sz="3200" b="1" dirty="0">
                <a:solidFill>
                  <a:srgbClr val="FFFFFF"/>
                </a:solidFill>
              </a:rPr>
              <a:t> </a:t>
            </a:r>
            <a:r>
              <a:rPr sz="3200" b="1" dirty="0" err="1">
                <a:solidFill>
                  <a:srgbClr val="FFFFFF"/>
                </a:solidFill>
              </a:rPr>
              <a:t>کار</a:t>
            </a:r>
            <a:r>
              <a:rPr lang="fa-IR" sz="3200" b="1" dirty="0">
                <a:solidFill>
                  <a:srgbClr val="FFFFFF"/>
                </a:solidFill>
              </a:rPr>
              <a:t> ایران 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75529" y="3278722"/>
            <a:ext cx="6456592" cy="45719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C5D37-D2E2-A47A-CBFE-8516FBF157EA}"/>
              </a:ext>
            </a:extLst>
          </p:cNvPr>
          <p:cNvSpPr txBox="1"/>
          <p:nvPr/>
        </p:nvSpPr>
        <p:spPr>
          <a:xfrm>
            <a:off x="2483506" y="3697145"/>
            <a:ext cx="6840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2000" dirty="0"/>
              <a:t>سال های 1401 تا 1403 | تحیلی ثانویه داده های طرح آمارگیری نیروی کار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017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a-IR" sz="3200" b="0" i="0" dirty="0">
                <a:solidFill>
                  <a:srgbClr val="0F1115"/>
                </a:solidFill>
                <a:effectLst/>
                <a:latin typeface="quote-cjk-patch"/>
              </a:rPr>
              <a:t>خلاصه تحلیلی مدیریتی</a:t>
            </a:r>
            <a:endParaRPr sz="3200" b="1" dirty="0">
              <a:solidFill>
                <a:srgbClr val="1F3A5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63946"/>
                </a:solidFill>
              </a:rPr>
              <a:t>52.08%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نرخ محرومیت کلی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۷۸۶,۰۴۲ نفر از ۱.۵ میلیون نفر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82.78%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محرومیت زنان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۴ برابر بیشتر از مردان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57.12%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محرومیت روستایی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در مقابل ۴۹٪ شهری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6517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6459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59.50%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1F1F"/>
                </a:solidFill>
              </a:rPr>
              <a:t>بدترین استان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346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سیستان و بلوچستان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یافته‌های کلیدی:</a:t>
            </a:r>
          </a:p>
          <a:p>
            <a:pPr>
              <a:spcBef>
                <a:spcPts val="800"/>
              </a:spcBef>
            </a:pPr>
            <a:r>
              <a:rPr sz="1400"/>
              <a:t>• بیش از نیمی از جمعیت نمونه در وضعیت محرومیت قرار دارند</a:t>
            </a:r>
          </a:p>
          <a:p>
            <a:pPr>
              <a:spcBef>
                <a:spcPts val="800"/>
              </a:spcBef>
            </a:pPr>
            <a:r>
              <a:rPr sz="1400"/>
              <a:t>• شکاف جنسیتی محرومیت بسیار بزرگ است: زنان ۴ برابر بیشتر در معرض محرومیت هستند</a:t>
            </a:r>
          </a:p>
          <a:p>
            <a:pPr>
              <a:spcBef>
                <a:spcPts val="800"/>
              </a:spcBef>
            </a:pPr>
            <a:r>
              <a:rPr sz="1400"/>
              <a:t>• مناطق روستایی محرومیت بالاتری نسبت به مناطق شهری دارند</a:t>
            </a:r>
          </a:p>
          <a:p>
            <a:pPr>
              <a:spcBef>
                <a:spcPts val="800"/>
              </a:spcBef>
            </a:pPr>
            <a:r>
              <a:rPr sz="1400"/>
              <a:t>• استان‌های غربی و جنوب شرقی بیشترین محرومیت را تجربه می‌کنند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شکاف جنسیتی محرومیت: زنان در معرض آسیب</a:t>
            </a:r>
          </a:p>
        </p:txBody>
      </p:sp>
      <p:pic>
        <p:nvPicPr>
          <p:cNvPr id="4" name="Picture 3" descr="deprivation_percent_dep_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029200" cy="387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F3A5F"/>
                </a:solidFill>
              </a:rPr>
              <a:t>یافته‌های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کلیدی</a:t>
            </a:r>
            <a:endParaRPr sz="2200" b="1" dirty="0">
              <a:solidFill>
                <a:srgbClr val="1F3A5F"/>
              </a:solidFill>
            </a:endParaRPr>
          </a:p>
          <a:p>
            <a:pPr>
              <a:spcBef>
                <a:spcPts val="1500"/>
              </a:spcBef>
            </a:pPr>
            <a:r>
              <a:rPr sz="2800" b="1" dirty="0">
                <a:solidFill>
                  <a:srgbClr val="E63946"/>
                </a:solidFill>
              </a:rPr>
              <a:t>82.78%</a:t>
            </a:r>
          </a:p>
          <a:p>
            <a:r>
              <a:rPr sz="1400" dirty="0" err="1">
                <a:solidFill>
                  <a:srgbClr val="666666"/>
                </a:solidFill>
              </a:rPr>
              <a:t>نرخ</a:t>
            </a:r>
            <a:r>
              <a:rPr sz="1400" dirty="0">
                <a:solidFill>
                  <a:srgbClr val="666666"/>
                </a:solidFill>
              </a:rPr>
              <a:t> </a:t>
            </a:r>
            <a:r>
              <a:rPr sz="1400" dirty="0" err="1">
                <a:solidFill>
                  <a:srgbClr val="666666"/>
                </a:solidFill>
              </a:rPr>
              <a:t>محرومیت</a:t>
            </a:r>
            <a:r>
              <a:rPr sz="1400" dirty="0">
                <a:solidFill>
                  <a:srgbClr val="666666"/>
                </a:solidFill>
              </a:rPr>
              <a:t> </a:t>
            </a:r>
            <a:r>
              <a:rPr sz="1400" dirty="0" err="1">
                <a:solidFill>
                  <a:srgbClr val="666666"/>
                </a:solidFill>
              </a:rPr>
              <a:t>زنان</a:t>
            </a:r>
            <a:endParaRPr sz="1400" dirty="0">
              <a:solidFill>
                <a:srgbClr val="666666"/>
              </a:solidFill>
            </a:endParaRPr>
          </a:p>
          <a:p>
            <a:pPr>
              <a:spcBef>
                <a:spcPts val="1500"/>
              </a:spcBef>
            </a:pPr>
            <a:r>
              <a:rPr sz="2800" b="1" dirty="0">
                <a:solidFill>
                  <a:srgbClr val="E63946"/>
                </a:solidFill>
              </a:rPr>
              <a:t>20.59%</a:t>
            </a:r>
          </a:p>
          <a:p>
            <a:r>
              <a:rPr lang="fa-IR" sz="1400" dirty="0">
                <a:solidFill>
                  <a:srgbClr val="666666"/>
                </a:solidFill>
              </a:rPr>
              <a:t>نرخ محرومیت مردان</a:t>
            </a:r>
            <a:endParaRPr sz="1400" dirty="0">
              <a:solidFill>
                <a:srgbClr val="666666"/>
              </a:solidFill>
            </a:endParaRPr>
          </a:p>
          <a:p>
            <a:pPr>
              <a:spcBef>
                <a:spcPts val="1500"/>
              </a:spcBef>
            </a:pPr>
            <a:r>
              <a:rPr sz="2800" b="1" dirty="0">
                <a:solidFill>
                  <a:srgbClr val="E63946"/>
                </a:solidFill>
              </a:rPr>
              <a:t>۴ </a:t>
            </a:r>
            <a:r>
              <a:rPr sz="2800" b="1" dirty="0" err="1">
                <a:solidFill>
                  <a:srgbClr val="E63946"/>
                </a:solidFill>
              </a:rPr>
              <a:t>برابر</a:t>
            </a:r>
            <a:endParaRPr sz="2800" b="1" dirty="0">
              <a:solidFill>
                <a:srgbClr val="E63946"/>
              </a:solidFill>
            </a:endParaRPr>
          </a:p>
          <a:p>
            <a:r>
              <a:rPr sz="1400" dirty="0" err="1">
                <a:solidFill>
                  <a:srgbClr val="666666"/>
                </a:solidFill>
              </a:rPr>
              <a:t>اختلاف</a:t>
            </a:r>
            <a:r>
              <a:rPr sz="1400" dirty="0">
                <a:solidFill>
                  <a:srgbClr val="666666"/>
                </a:solidFill>
              </a:rPr>
              <a:t> </a:t>
            </a:r>
            <a:r>
              <a:rPr sz="1400" dirty="0" err="1">
                <a:solidFill>
                  <a:srgbClr val="666666"/>
                </a:solidFill>
              </a:rPr>
              <a:t>جنسیتی</a:t>
            </a:r>
            <a:endParaRPr sz="1400" dirty="0">
              <a:solidFill>
                <a:srgbClr val="666666"/>
              </a:solidFill>
            </a:endParaRPr>
          </a:p>
          <a:p>
            <a:br>
              <a:rPr dirty="0"/>
            </a:br>
            <a:r>
              <a:rPr sz="1400" dirty="0" err="1">
                <a:solidFill>
                  <a:srgbClr val="1F1F1F"/>
                </a:solidFill>
              </a:rPr>
              <a:t>این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شکاف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بزرگ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نشان‌دهنده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نابرابری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ساختاری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در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بازار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کار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ایران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است</a:t>
            </a:r>
            <a:endParaRPr lang="fa-IR" sz="1400" dirty="0">
              <a:solidFill>
                <a:srgbClr val="1F1F1F"/>
              </a:solidFill>
            </a:endParaRPr>
          </a:p>
          <a:p>
            <a:r>
              <a:rPr lang="fa-IR" sz="1400" dirty="0">
                <a:solidFill>
                  <a:srgbClr val="1F1F1F"/>
                </a:solidFill>
              </a:rPr>
              <a:t> مرد : 0</a:t>
            </a:r>
          </a:p>
          <a:p>
            <a:r>
              <a:rPr lang="fa-IR" sz="1400" dirty="0">
                <a:solidFill>
                  <a:srgbClr val="1F1F1F"/>
                </a:solidFill>
              </a:rPr>
              <a:t>زن : 1</a:t>
            </a:r>
            <a:endParaRPr sz="1400" dirty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تفاوت شهری و روستایی</a:t>
            </a:r>
          </a:p>
        </p:txBody>
      </p:sp>
      <p:pic>
        <p:nvPicPr>
          <p:cNvPr id="4" name="Picture 3" descr="deprivation_percent_urban_r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0292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F3A5F"/>
                </a:solidFill>
              </a:rPr>
              <a:t>مناطق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روستایی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آسیب‌پذیرتر</a:t>
            </a:r>
            <a:endParaRPr sz="2200" b="1" dirty="0">
              <a:solidFill>
                <a:srgbClr val="1F3A5F"/>
              </a:solidFill>
            </a:endParaRPr>
          </a:p>
          <a:p>
            <a:pPr>
              <a:spcBef>
                <a:spcPts val="1000"/>
              </a:spcBef>
            </a:pPr>
            <a:r>
              <a:rPr sz="1800" dirty="0"/>
              <a:t>57.12%  </a:t>
            </a:r>
            <a:r>
              <a:rPr sz="1800" dirty="0" err="1"/>
              <a:t>محرومیت</a:t>
            </a:r>
            <a:r>
              <a:rPr sz="1800" dirty="0"/>
              <a:t> </a:t>
            </a:r>
            <a:r>
              <a:rPr sz="1800" dirty="0" err="1"/>
              <a:t>روستایی</a:t>
            </a:r>
            <a:endParaRPr sz="1800" dirty="0"/>
          </a:p>
          <a:p>
            <a:pPr>
              <a:spcBef>
                <a:spcPts val="1000"/>
              </a:spcBef>
            </a:pPr>
            <a:r>
              <a:rPr sz="1800" dirty="0"/>
              <a:t>49.03%  </a:t>
            </a:r>
            <a:r>
              <a:rPr sz="1800" dirty="0" err="1"/>
              <a:t>محرومیت</a:t>
            </a:r>
            <a:r>
              <a:rPr sz="1800" dirty="0"/>
              <a:t> </a:t>
            </a:r>
            <a:r>
              <a:rPr sz="1800" dirty="0" err="1"/>
              <a:t>شهری</a:t>
            </a:r>
            <a:endParaRPr sz="1800" dirty="0"/>
          </a:p>
          <a:p>
            <a:pPr>
              <a:spcBef>
                <a:spcPts val="1000"/>
              </a:spcBef>
            </a:pPr>
            <a:r>
              <a:rPr sz="1800" dirty="0"/>
              <a:t>8.09%  </a:t>
            </a:r>
            <a:r>
              <a:rPr sz="1800" dirty="0" err="1"/>
              <a:t>اختلاف</a:t>
            </a:r>
            <a:endParaRPr sz="1800" dirty="0"/>
          </a:p>
          <a:p>
            <a:br>
              <a:rPr dirty="0"/>
            </a:br>
            <a:r>
              <a:rPr sz="1400" dirty="0" err="1">
                <a:solidFill>
                  <a:srgbClr val="1F1F1F"/>
                </a:solidFill>
              </a:rPr>
              <a:t>مناطق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روستایی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به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دلیل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دسترسی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محدودتر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به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خدمات</a:t>
            </a:r>
            <a:r>
              <a:rPr sz="1400" dirty="0">
                <a:solidFill>
                  <a:srgbClr val="1F1F1F"/>
                </a:solidFill>
              </a:rPr>
              <a:t> و </a:t>
            </a:r>
            <a:r>
              <a:rPr sz="1400" dirty="0" err="1">
                <a:solidFill>
                  <a:srgbClr val="1F1F1F"/>
                </a:solidFill>
              </a:rPr>
              <a:t>فرصت‌های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شغلی</a:t>
            </a:r>
            <a:r>
              <a:rPr sz="1400" dirty="0">
                <a:solidFill>
                  <a:srgbClr val="1F1F1F"/>
                </a:solidFill>
              </a:rPr>
              <a:t>، </a:t>
            </a:r>
            <a:r>
              <a:rPr sz="1400" dirty="0" err="1">
                <a:solidFill>
                  <a:srgbClr val="1F1F1F"/>
                </a:solidFill>
              </a:rPr>
              <a:t>محرومیت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بالاتری</a:t>
            </a:r>
            <a:r>
              <a:rPr sz="1400" dirty="0">
                <a:solidFill>
                  <a:srgbClr val="1F1F1F"/>
                </a:solidFill>
              </a:rPr>
              <a:t> </a:t>
            </a:r>
            <a:r>
              <a:rPr sz="1400" dirty="0" err="1">
                <a:solidFill>
                  <a:srgbClr val="1F1F1F"/>
                </a:solidFill>
              </a:rPr>
              <a:t>دارند</a:t>
            </a:r>
            <a:r>
              <a:rPr sz="1400" dirty="0">
                <a:solidFill>
                  <a:srgbClr val="1F1F1F"/>
                </a:solidFill>
              </a:rPr>
              <a:t>.</a:t>
            </a:r>
            <a:endParaRPr lang="fa-IR" sz="1400" dirty="0">
              <a:solidFill>
                <a:srgbClr val="1F1F1F"/>
              </a:solidFill>
            </a:endParaRPr>
          </a:p>
          <a:p>
            <a:endParaRPr lang="fa-IR" sz="1400" dirty="0">
              <a:solidFill>
                <a:srgbClr val="1F1F1F"/>
              </a:solidFill>
            </a:endParaRPr>
          </a:p>
          <a:p>
            <a:r>
              <a:rPr lang="fa-IR" sz="1400" dirty="0">
                <a:solidFill>
                  <a:srgbClr val="1F1F1F"/>
                </a:solidFill>
              </a:rPr>
              <a:t>شهری: 1</a:t>
            </a:r>
          </a:p>
          <a:p>
            <a:r>
              <a:rPr lang="fa-IR" sz="1400" dirty="0">
                <a:solidFill>
                  <a:srgbClr val="1F1F1F"/>
                </a:solidFill>
              </a:rPr>
              <a:t>روستایی : 2</a:t>
            </a:r>
            <a:endParaRPr sz="1400" dirty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الگوی سنی محرومیت</a:t>
            </a:r>
          </a:p>
        </p:txBody>
      </p:sp>
      <p:pic>
        <p:nvPicPr>
          <p:cNvPr id="4" name="Picture 3" descr="deprivation_percent_dep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84737"/>
            <a:ext cx="502920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>
                <a:solidFill>
                  <a:srgbClr val="1F3A5F"/>
                </a:solidFill>
              </a:rPr>
              <a:t>گروه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سنی</a:t>
            </a:r>
            <a:r>
              <a:rPr sz="2200" b="1" dirty="0">
                <a:solidFill>
                  <a:srgbClr val="1F3A5F"/>
                </a:solidFill>
              </a:rPr>
              <a:t> ۴ </a:t>
            </a:r>
            <a:r>
              <a:rPr sz="2200" b="1" dirty="0" err="1">
                <a:solidFill>
                  <a:srgbClr val="1F3A5F"/>
                </a:solidFill>
              </a:rPr>
              <a:t>بیشترین</a:t>
            </a:r>
            <a:r>
              <a:rPr sz="2200" b="1" dirty="0">
                <a:solidFill>
                  <a:srgbClr val="1F3A5F"/>
                </a:solidFill>
              </a:rPr>
              <a:t> </a:t>
            </a:r>
            <a:r>
              <a:rPr sz="2200" b="1" dirty="0" err="1">
                <a:solidFill>
                  <a:srgbClr val="1F3A5F"/>
                </a:solidFill>
              </a:rPr>
              <a:t>محرومیت</a:t>
            </a:r>
            <a:endParaRPr sz="2200" b="1" dirty="0">
              <a:solidFill>
                <a:srgbClr val="1F3A5F"/>
              </a:solidFill>
            </a:endParaRPr>
          </a:p>
          <a:p>
            <a:pPr>
              <a:spcBef>
                <a:spcPts val="800"/>
              </a:spcBef>
            </a:pPr>
            <a:r>
              <a:rPr sz="1600" dirty="0" err="1"/>
              <a:t>گروه</a:t>
            </a:r>
            <a:r>
              <a:rPr sz="1600" dirty="0"/>
              <a:t> ۱: 32.05% </a:t>
            </a:r>
            <a:r>
              <a:rPr sz="1600" dirty="0" err="1"/>
              <a:t>کمترین</a:t>
            </a:r>
            <a:r>
              <a:rPr sz="1600" dirty="0"/>
              <a:t> </a:t>
            </a:r>
            <a:r>
              <a:rPr sz="1600" dirty="0" err="1"/>
              <a:t>محرومیت</a:t>
            </a:r>
            <a:r>
              <a:rPr lang="fa-IR" sz="1600" dirty="0"/>
              <a:t> </a:t>
            </a:r>
            <a:endParaRPr sz="1600" dirty="0"/>
          </a:p>
          <a:p>
            <a:pPr>
              <a:spcBef>
                <a:spcPts val="800"/>
              </a:spcBef>
            </a:pPr>
            <a:r>
              <a:rPr sz="1600" dirty="0" err="1"/>
              <a:t>گروه</a:t>
            </a:r>
            <a:r>
              <a:rPr sz="1600" dirty="0"/>
              <a:t> ۲: 54.15% </a:t>
            </a:r>
          </a:p>
          <a:p>
            <a:pPr>
              <a:spcBef>
                <a:spcPts val="800"/>
              </a:spcBef>
            </a:pPr>
            <a:r>
              <a:rPr sz="1600" dirty="0" err="1"/>
              <a:t>گروه</a:t>
            </a:r>
            <a:r>
              <a:rPr sz="1600" dirty="0"/>
              <a:t> ۳: 52.14% </a:t>
            </a:r>
          </a:p>
          <a:p>
            <a:pPr>
              <a:spcBef>
                <a:spcPts val="800"/>
              </a:spcBef>
            </a:pPr>
            <a:r>
              <a:rPr sz="1600" dirty="0" err="1"/>
              <a:t>گروه</a:t>
            </a:r>
            <a:r>
              <a:rPr sz="1600" dirty="0"/>
              <a:t> ۴: 62.60% </a:t>
            </a:r>
            <a:r>
              <a:rPr sz="1600" dirty="0" err="1"/>
              <a:t>بیشترین</a:t>
            </a:r>
            <a:r>
              <a:rPr sz="1600" dirty="0"/>
              <a:t> </a:t>
            </a:r>
            <a:r>
              <a:rPr sz="1600" dirty="0" err="1"/>
              <a:t>محرومیت</a:t>
            </a:r>
            <a:endParaRPr lang="fa-IR" sz="1600" dirty="0"/>
          </a:p>
          <a:p>
            <a:br>
              <a:rPr lang="fa-IR" dirty="0"/>
            </a:br>
            <a:r>
              <a:rPr lang="fa-IR" sz="1400" dirty="0">
                <a:solidFill>
                  <a:srgbClr val="1F1F1F"/>
                </a:solidFill>
              </a:rPr>
              <a:t>افراد مسن‌تر (گروه ۴) بیشترین نرخ محرومیت را تجربه می‌کنند</a:t>
            </a:r>
          </a:p>
          <a:p>
            <a:r>
              <a:rPr lang="fa-IR" sz="1400" dirty="0">
                <a:solidFill>
                  <a:srgbClr val="1F1F1F"/>
                </a:solidFill>
              </a:rPr>
              <a:t>گروه </a:t>
            </a:r>
            <a:r>
              <a:rPr lang="fa-IR" sz="1400" dirty="0"/>
              <a:t>۱</a:t>
            </a:r>
            <a:r>
              <a:rPr lang="fa-IR" sz="1400" dirty="0">
                <a:solidFill>
                  <a:srgbClr val="1F1F1F"/>
                </a:solidFill>
              </a:rPr>
              <a:t> و </a:t>
            </a:r>
            <a:r>
              <a:rPr lang="fa-IR" sz="1400" dirty="0"/>
              <a:t>۴</a:t>
            </a:r>
            <a:r>
              <a:rPr lang="fa-IR" sz="1400" dirty="0">
                <a:solidFill>
                  <a:srgbClr val="1F1F1F"/>
                </a:solidFill>
              </a:rPr>
              <a:t> : 1</a:t>
            </a:r>
          </a:p>
          <a:p>
            <a:r>
              <a:rPr lang="fa-IR" sz="1400" dirty="0">
                <a:solidFill>
                  <a:srgbClr val="1F1F1F"/>
                </a:solidFill>
              </a:rPr>
              <a:t>گروه </a:t>
            </a:r>
            <a:r>
              <a:rPr lang="fa-IR" sz="1400" dirty="0"/>
              <a:t>۲</a:t>
            </a:r>
            <a:r>
              <a:rPr lang="fa-IR" sz="1400" dirty="0">
                <a:solidFill>
                  <a:srgbClr val="1F1F1F"/>
                </a:solidFill>
              </a:rPr>
              <a:t> و </a:t>
            </a:r>
            <a:r>
              <a:rPr lang="fa-IR" sz="1400" dirty="0"/>
              <a:t>۳</a:t>
            </a:r>
            <a:r>
              <a:rPr lang="fa-IR" sz="1400" dirty="0">
                <a:solidFill>
                  <a:srgbClr val="1F1F1F"/>
                </a:solidFill>
              </a:rPr>
              <a:t> : 0</a:t>
            </a:r>
          </a:p>
          <a:p>
            <a:endParaRPr lang="fa-IR" sz="1400" dirty="0">
              <a:solidFill>
                <a:srgbClr val="1F1F1F"/>
              </a:solidFill>
            </a:endParaRPr>
          </a:p>
          <a:p>
            <a:r>
              <a:rPr lang="fa-IR" sz="1400" dirty="0">
                <a:solidFill>
                  <a:srgbClr val="1F1F1F"/>
                </a:solidFill>
              </a:rPr>
              <a:t>گروه </a:t>
            </a:r>
            <a:r>
              <a:rPr lang="fa-IR" sz="1400" dirty="0"/>
              <a:t>۱ : 15 تا 24 </a:t>
            </a:r>
          </a:p>
          <a:p>
            <a:r>
              <a:rPr lang="fa-IR" sz="1400" dirty="0">
                <a:solidFill>
                  <a:srgbClr val="1F1F1F"/>
                </a:solidFill>
              </a:rPr>
              <a:t>گروه</a:t>
            </a:r>
            <a:r>
              <a:rPr lang="fa-IR" sz="1400" dirty="0"/>
              <a:t> ۲ : 25 تا 39 </a:t>
            </a:r>
          </a:p>
          <a:p>
            <a:r>
              <a:rPr lang="fa-IR" sz="1400" dirty="0">
                <a:solidFill>
                  <a:srgbClr val="1F1F1F"/>
                </a:solidFill>
              </a:rPr>
              <a:t>گروه </a:t>
            </a:r>
            <a:r>
              <a:rPr lang="fa-IR" sz="1400" dirty="0"/>
              <a:t>۳ : 40 تا 55 </a:t>
            </a:r>
          </a:p>
          <a:p>
            <a:r>
              <a:rPr lang="fa-IR" sz="1400" dirty="0">
                <a:solidFill>
                  <a:srgbClr val="1F1F1F"/>
                </a:solidFill>
              </a:rPr>
              <a:t>گروه </a:t>
            </a:r>
            <a:r>
              <a:rPr lang="fa-IR" sz="1400" dirty="0"/>
              <a:t>۴</a:t>
            </a:r>
            <a:r>
              <a:rPr lang="fa-IR" sz="1400" dirty="0">
                <a:solidFill>
                  <a:srgbClr val="1F1F1F"/>
                </a:solidFill>
              </a:rPr>
              <a:t> : 55 تا 100</a:t>
            </a:r>
            <a:endParaRPr sz="1400" dirty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توزیع جغرافیایی محرومیت</a:t>
            </a:r>
          </a:p>
        </p:txBody>
      </p:sp>
      <p:pic>
        <p:nvPicPr>
          <p:cNvPr id="4" name="Picture 3" descr="deprivation_by_provi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استان‌های پرخطر</a:t>
            </a:r>
          </a:p>
          <a:p>
            <a:pPr>
              <a:spcBef>
                <a:spcPts val="600"/>
              </a:spcBef>
            </a:pPr>
            <a:r>
              <a:rPr sz="1400"/>
              <a:t>• سیستان و بلوچستان: 59.50%</a:t>
            </a:r>
          </a:p>
          <a:p>
            <a:pPr>
              <a:spcBef>
                <a:spcPts val="600"/>
              </a:spcBef>
            </a:pPr>
            <a:r>
              <a:rPr sz="1400"/>
              <a:t>• کرمانشاه: 59.48%</a:t>
            </a:r>
          </a:p>
          <a:p>
            <a:pPr>
              <a:spcBef>
                <a:spcPts val="600"/>
              </a:spcBef>
            </a:pPr>
            <a:r>
              <a:rPr sz="1400"/>
              <a:t>• ایلام: 59.41%</a:t>
            </a:r>
          </a:p>
          <a:p>
            <a:pPr>
              <a:spcBef>
                <a:spcPts val="600"/>
              </a:spcBef>
            </a:pPr>
            <a:r>
              <a:rPr sz="1400"/>
              <a:t>• آذربایجان غربی: 58.56%</a:t>
            </a:r>
          </a:p>
          <a:p>
            <a:pPr>
              <a:spcBef>
                <a:spcPts val="600"/>
              </a:spcBef>
            </a:pPr>
            <a:r>
              <a:rPr sz="1400"/>
              <a:t>• کردستان: 57.21%</a:t>
            </a:r>
          </a:p>
          <a:p>
            <a:br/>
            <a:r>
              <a:rPr sz="2000" b="1">
                <a:solidFill>
                  <a:srgbClr val="2C5F2D"/>
                </a:solidFill>
              </a:rPr>
              <a:t>استان‌های کم‌خطر</a:t>
            </a:r>
          </a:p>
          <a:p>
            <a:pPr>
              <a:spcBef>
                <a:spcPts val="600"/>
              </a:spcBef>
            </a:pPr>
            <a:r>
              <a:rPr sz="1400"/>
              <a:t>• یزد: 44.58%</a:t>
            </a:r>
          </a:p>
          <a:p>
            <a:pPr>
              <a:spcBef>
                <a:spcPts val="600"/>
              </a:spcBef>
            </a:pPr>
            <a:r>
              <a:rPr sz="1400"/>
              <a:t>• تهران: 44.64%</a:t>
            </a:r>
          </a:p>
          <a:p>
            <a:pPr>
              <a:spcBef>
                <a:spcPts val="600"/>
              </a:spcBef>
            </a:pPr>
            <a:r>
              <a:rPr sz="1400"/>
              <a:t>• سمنان: 45.01%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رابطه تحصیلات و محرومیت</a:t>
            </a:r>
          </a:p>
        </p:txBody>
      </p:sp>
      <p:pic>
        <p:nvPicPr>
          <p:cNvPr id="4" name="Picture 3" descr="deprivation_percent_education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رشته تحصیلی مؤثر است</a:t>
            </a:r>
          </a:p>
          <a:p>
            <a:pPr>
              <a:spcBef>
                <a:spcPts val="800"/>
              </a:spcBef>
            </a:pPr>
            <a:r>
              <a:rPr sz="1600"/>
              <a:t>هنر و علوم انسانی: 47.83% بیشترین</a:t>
            </a:r>
          </a:p>
          <a:p>
            <a:pPr>
              <a:spcBef>
                <a:spcPts val="800"/>
              </a:spcBef>
            </a:pPr>
            <a:r>
              <a:rPr sz="1600"/>
              <a:t>علوم طبیعی: 44.35% </a:t>
            </a:r>
          </a:p>
          <a:p>
            <a:pPr>
              <a:spcBef>
                <a:spcPts val="800"/>
              </a:spcBef>
            </a:pPr>
            <a:r>
              <a:rPr sz="1600"/>
              <a:t>مهندسی و صنعت: 23.99% کمترین</a:t>
            </a:r>
          </a:p>
          <a:p>
            <a:br/>
            <a:r>
              <a:rPr sz="1400">
                <a:solidFill>
                  <a:srgbClr val="1F1F1F"/>
                </a:solidFill>
              </a:rPr>
              <a:t>فارغ‌التحصیلان مهندسی و صنعت کمترین نرخ محرومیت را دارند.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نمودار ترکیبی شاخص‌های محرومیت</a:t>
            </a:r>
          </a:p>
        </p:txBody>
      </p:sp>
      <p:pic>
        <p:nvPicPr>
          <p:cNvPr id="4" name="Picture 3" descr="deprivation_by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توزیع سنی جمعیت محروم</a:t>
            </a:r>
          </a:p>
        </p:txBody>
      </p:sp>
      <p:pic>
        <p:nvPicPr>
          <p:cNvPr id="4" name="Picture 3" descr="ag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تحلیل تفصیلی توزیع سنی</a:t>
            </a:r>
          </a:p>
        </p:txBody>
      </p:sp>
      <p:pic>
        <p:nvPicPr>
          <p:cNvPr id="4" name="Picture 3" descr="age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تحلیل موزاییکی متغیرها</a:t>
            </a:r>
          </a:p>
        </p:txBody>
      </p:sp>
      <p:pic>
        <p:nvPicPr>
          <p:cNvPr id="4" name="Picture 3" descr="mosaic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628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نتیجه‌گیری و پیشنهادات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4876495" cy="45720"/>
          </a:xfrm>
          <a:prstGeom prst="rect">
            <a:avLst/>
          </a:prstGeom>
          <a:solidFill>
            <a:srgbClr val="F3B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۱. شکاف جنسیتی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سیاست‌گذاری ویژه برای کاهش محرومیت زنان در بازار کار ضروری است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۲. توجه به مناطق روستایی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توسعه زیرساخت‌ها و فرصت‌های شغلی در مناطق روستایی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۳. حمایت از گروه‌های سنی آسیب‌پذیر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برنامه‌های حمایتی برای افراد مسن‌تر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3B23E"/>
                </a:solidFill>
              </a:rPr>
              <a:t>۴. تقویت آموزش فنی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9905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C8D3E6"/>
                </a:solidFill>
              </a:rPr>
              <a:t>گسترش آموزش‌های فنی و مهندسی برای کاهش محرومیت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455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seyed amirhossein mirkhalili</cp:lastModifiedBy>
  <cp:revision>2</cp:revision>
  <dcterms:created xsi:type="dcterms:W3CDTF">2013-01-27T09:14:16Z</dcterms:created>
  <dcterms:modified xsi:type="dcterms:W3CDTF">2026-07-09T12:50:27Z</dcterms:modified>
  <cp:category/>
</cp:coreProperties>
</file>